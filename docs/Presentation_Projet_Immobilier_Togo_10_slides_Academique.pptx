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CFB0AD-94CD-43CC-A8F9-B6796031A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488AE7-9D5F-402C-8444-D208211A4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ADBC1A-680B-4F21-9472-719BA530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0686C8-E068-4C72-8EE9-8D1B7F10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F2854F-27B4-429F-94FC-7C95D873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0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447EDD-583C-44AB-9D42-DAA19AF4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4D3556-FD8F-4ABF-ABFB-69AE3639B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9C49FB-1FB8-45DA-B0D1-6172DE4B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DA8899-6EDE-4746-830A-F89086D1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3BD2C7-39F4-42FC-B798-38E67F24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65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2FCE0-B9C4-41E2-AFE3-49FEB9D3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F1D83F-DE87-4AE6-96BF-49852CF42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21A14-4B02-4C87-896B-CFA74294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6F418B-F76A-4DDD-9DA8-D3A3ADCB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15C22E-440F-439C-B599-626660FB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68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E5A515-49FC-4F88-8F4B-FA502541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BF8DC-871A-4787-9465-6186656AF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CC1FFD-7B34-4EF0-A63B-0486CB9A2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39045A-3A2D-4B48-A0D4-EAAC9EB2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2CC45F-5F39-4E9A-A530-AE125E24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6D458B-710E-4699-AC43-D327DF2F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24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AA97F-6CC8-4735-920A-2B794101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CDF9C5-2794-47C7-88F1-D80E8BCE5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C09E9A-FB82-423B-89B0-07EA38A9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2F0021-A6E3-403D-B09C-1B4D612A0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4340D8-C2A3-400D-BF9E-8AF8D6CDA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8D651C-0A7C-43F1-B93F-8D302838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FBD14A3-D3B8-4E0F-9B5A-A6FC7385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B70D7D-4DD8-4359-A5CC-C2EEB0CA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86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3532D-2065-4DF7-8138-8558B0C9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CD9D47-A487-4D3E-AA05-D0143EFCB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DC8E89E-6276-4BFD-8F0D-217A5470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5CBEB9-E6A2-4A88-BFDD-20E373C9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60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E4C40FF-0DED-4C59-A0A5-3A998E7C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765D8B7-1A75-4C79-9D3C-383D5F2A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C26C11-656E-4D4E-95CC-7FCB7544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05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57CE5-7927-4DEC-A096-44FE7568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41C23E-9F3B-44A1-B167-04DBEE3FE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EEE75E-5421-4272-AE6E-AFF907779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471B85-0A47-495B-AAC4-17005F04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D074EF-70EB-4668-AEAC-A9C279D4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B418BB-8B31-4EF6-8A17-CC38F621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99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9836D-0208-4EF4-AFDE-BDDD864A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747BE2-5405-40A5-9F26-D890D0012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2D29AF-BB63-4164-BDAA-65619ECB9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B5613-22F8-47B6-9370-7E832404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AA84B6-661D-46FA-A7FA-55C1E1AD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0CA822-3760-4126-B5F2-48C55265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11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AF907-4F3F-4E39-A595-FC7F76610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E2DA64-B9A1-4FC4-A6E9-B752AA8F0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4F913-A388-462A-93B7-6388D927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AA6B2-7E89-4766-AABE-9C1973F9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2CF454-191B-433E-AAC4-A5075509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19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09B03F-739E-4545-895A-6656E89A7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6CB962-127E-4323-9072-C6B891CA1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DC981-F694-41CC-A4BE-64F5E3A8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6A9657-875E-4920-9A19-99E254A4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221FF-3F71-4F5C-B099-8EF993D6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83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1C9F32-5B3B-424A-AC6B-E19B47AC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DC8538-BFE3-4B95-A384-C90D221AE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5B3022-8513-4FEA-8AAD-63AA38B9C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D4D81-CA69-433B-9E86-55B16174DACE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6C162D-DF51-4445-84F9-8CC5DC38A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374A96-8D60-4269-A1AC-E04630F1F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87756-6EA3-44C6-82C4-70511006E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84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788BD1-AC68-49EA-84B3-CD4E5D7483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C02B2-5E81-41FD-87FB-92A8DFEF72C0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0B5A6D-5292-49FE-A402-F1DDC97FA045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E46F46-2976-4E55-B232-D3ED6950DD54}"/>
              </a:ext>
            </a:extLst>
          </p:cNvPr>
          <p:cNvSpPr txBox="1"/>
          <p:nvPr/>
        </p:nvSpPr>
        <p:spPr>
          <a:xfrm>
            <a:off x="635000" y="6604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4000" b="1">
                <a:solidFill>
                  <a:srgbClr val="323232"/>
                </a:solidFill>
                <a:latin typeface="Calibri" panose="020F0502020204030204" pitchFamily="34" charset="0"/>
              </a:rPr>
              <a:t>Real Estate Data Pipeline - Togo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AD2C371-311E-4891-9212-79A98D5961A0}"/>
              </a:ext>
            </a:extLst>
          </p:cNvPr>
          <p:cNvSpPr txBox="1"/>
          <p:nvPr/>
        </p:nvSpPr>
        <p:spPr>
          <a:xfrm>
            <a:off x="762000" y="2159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000">
                <a:solidFill>
                  <a:srgbClr val="333333"/>
                </a:solidFill>
                <a:latin typeface="Calibri" panose="020F0502020204030204" pitchFamily="34" charset="0"/>
              </a:rPr>
              <a:t>Collecte, normalisation et valorisation de données immobilières multi-sources`n`nAuteur: INGGBAA`nEncadrant: ____________________`nDate: 2 mars 2026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315F5B8-A056-4EF8-9F03-0A1FC40C13B6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1/10</a:t>
            </a:r>
          </a:p>
        </p:txBody>
      </p:sp>
    </p:spTree>
    <p:extLst>
      <p:ext uri="{BB962C8B-B14F-4D97-AF65-F5344CB8AC3E}">
        <p14:creationId xmlns:p14="http://schemas.microsoft.com/office/powerpoint/2010/main" val="309982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6553E8-7FAC-47B4-9D8E-3596A8A1B7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90277-7B91-41B3-A076-7048850B6E8C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34F35-1B23-440C-853C-2E2CF3D14DFA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7DAAC0-3710-4AF8-930F-206859C8FB5E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Contexte et Problématique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E70C3E9-F9E5-474C-9DA1-9715A153D1F9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- Les annonces immobilières sont dispersées sur plusieurs plateformes.`n- Les formats de données sont hétérogènes.`n- La mise à jour manuelle est lente et peu fiable.`n- Les décideurs manquent d'une vue consolidée.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A07B6F-6540-4845-9E38-642F0A2EAD2D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2/10</a:t>
            </a:r>
          </a:p>
        </p:txBody>
      </p:sp>
    </p:spTree>
    <p:extLst>
      <p:ext uri="{BB962C8B-B14F-4D97-AF65-F5344CB8AC3E}">
        <p14:creationId xmlns:p14="http://schemas.microsoft.com/office/powerpoint/2010/main" val="401514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86DAF9-5096-44DF-8F17-712B304949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EA9E8-F7F2-460C-B42D-2663BE76A8C0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6C7B-137B-4B72-B362-094DEBEDAA8F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1ED9AA-EBFB-45FB-8010-BD6A304C4C6D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Objectifs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A17F5FC-2663-40E5-B983-23955631CDFE}"/>
              </a:ext>
            </a:extLst>
          </p:cNvPr>
          <p:cNvSpPr txBox="1"/>
          <p:nvPr/>
        </p:nvSpPr>
        <p:spPr>
          <a:xfrm>
            <a:off x="762000" y="1651000"/>
            <a:ext cx="10668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Objectif général:`nConcevoir une chaîne de traitement de données pour centraliser les annonces immobilières togolaises.`n`nObjectifs spécifiques:`n- Ingestion multi-sources`n- Normalisation des données`n- Stockage structuré sous MySQL`n- Exposition via API FastAPI et tableau de bord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337F0A-8C82-4ACE-A2C2-2C73F78B6367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3/10</a:t>
            </a:r>
          </a:p>
        </p:txBody>
      </p:sp>
    </p:spTree>
    <p:extLst>
      <p:ext uri="{BB962C8B-B14F-4D97-AF65-F5344CB8AC3E}">
        <p14:creationId xmlns:p14="http://schemas.microsoft.com/office/powerpoint/2010/main" val="373221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D4F42A-E9E8-4A1F-AED9-31B4AC3D41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5F92F-1B1C-4285-B0DD-50A19A2B907A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71602-E6A3-44B4-B567-F50B4601171F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0215CF-56FA-4BB2-8E6A-BE5271C0AF82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Méthodologie et Étapes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EDA6CD-2D1B-46B3-83CE-D591FEC04BC5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1. Collecte des données (fichiers JSON)`n2. Zone brute (raw data)`n3. Nettoyage et normalisation`n4. Intégration en base MySQL`n5. Exposition API FastAPI`n6. Visualisation Streamlit`n7. Exécution planifiée (20 min)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B471F55-65A2-4FCE-95F6-2F8E38580077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4/10</a:t>
            </a:r>
          </a:p>
        </p:txBody>
      </p:sp>
    </p:spTree>
    <p:extLst>
      <p:ext uri="{BB962C8B-B14F-4D97-AF65-F5344CB8AC3E}">
        <p14:creationId xmlns:p14="http://schemas.microsoft.com/office/powerpoint/2010/main" val="422943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F6242B-364C-4225-9ADE-AC38DC6ED9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DCC46-C232-4A60-9566-8CDBB038AAC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B9026-10A2-436A-B829-80F29ECB7607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30DB9D-9BEE-4642-BA4B-7AAD625D4FDE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Architecture Technique Actuelle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399977-6329-436B-883B-FFCF4F63C55F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Flux applicatif:`nJSON Sources -&gt; DonneesScrapper/python.py -&gt; Scheduler.py -&gt; SQLAlchemy/MySQL -&gt; API FastAPI -&gt; Streamlit`n`nType d'architecture: Batch / Micro-batch orienté ELT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D07631-8787-4B89-A1B8-367BE6587E70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5/10</a:t>
            </a:r>
          </a:p>
        </p:txBody>
      </p:sp>
    </p:spTree>
    <p:extLst>
      <p:ext uri="{BB962C8B-B14F-4D97-AF65-F5344CB8AC3E}">
        <p14:creationId xmlns:p14="http://schemas.microsoft.com/office/powerpoint/2010/main" val="129751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110AF-2371-4092-ACD2-10785BF269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6E49E7-8CCB-4D66-BC85-E12AF66B44D1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023FC-30C8-4C99-B5A0-31F8AE1F18F3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BEDF0A-3B8D-46AE-B601-3EAA46D11DE4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Architecture Big Data (Analyse)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AAF035-3122-4621-B185-EF0F879589BD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Architecture utilisée actuellement:`n- Pipeline ELT batch/micro-batch`n- Couche de serving (API FastAPI + dashboard)`n`nArchitecture cible (évolution):`n- Lambda (Batch + Speed + Serving)`n- Medallion (Bronze / Silver / Gold)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C4C918-16D7-408D-A98D-046EF49025B3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6/10</a:t>
            </a:r>
          </a:p>
        </p:txBody>
      </p:sp>
    </p:spTree>
    <p:extLst>
      <p:ext uri="{BB962C8B-B14F-4D97-AF65-F5344CB8AC3E}">
        <p14:creationId xmlns:p14="http://schemas.microsoft.com/office/powerpoint/2010/main" val="233177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09FFB-C336-47D4-ACC1-0386A2DBD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1E5E0-0277-49FE-A8AD-F7974ED4FF48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6BF78-3907-4DE1-A2CB-F03FC89E7B07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D2758E-052D-4A5D-A9AF-5FFFCDDB6FEE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Stack Technologique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B3D997-AEE8-4571-8B48-6BBD17C758A2}"/>
              </a:ext>
            </a:extLst>
          </p:cNvPr>
          <p:cNvSpPr txBox="1"/>
          <p:nvPr/>
        </p:nvSpPr>
        <p:spPr>
          <a:xfrm>
            <a:off x="762000" y="1651000"/>
            <a:ext cx="1066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- Python 3.8+`n- SQLAlchemy 2.x + PyMySQL`n- MySQL 8+`n- APScheduler`n- FastAPI + Uvicorn`n- Streamlit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CE5039F-F0CA-45D8-AF64-7629CF737677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7/10</a:t>
            </a:r>
          </a:p>
        </p:txBody>
      </p:sp>
    </p:spTree>
    <p:extLst>
      <p:ext uri="{BB962C8B-B14F-4D97-AF65-F5344CB8AC3E}">
        <p14:creationId xmlns:p14="http://schemas.microsoft.com/office/powerpoint/2010/main" val="245518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203DC-FA77-47A7-AA8D-B568998F4C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E82553-12AE-41B1-B007-75BB5B9F2DD8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98AE1-B393-4071-B2DB-CDAC20CF094D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F58973-4894-46EA-AE1E-AD2762D3680C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Résultats et Indicateurs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BDABD1-4044-4B85-AEF7-EA727828E786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Résultats observés:`n- 34 annonces intégrées`n- Source dominante: Coin-Afrique (34)`n- Prix moyen: 66 358 823 CFA`n- Médiane: 37 500 000 CFA`n- Min/Max: 4 000 000 à 450 000 000 CFA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6494D2-BEA2-40B7-B35D-2CE6124F4157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8/10</a:t>
            </a:r>
          </a:p>
        </p:txBody>
      </p:sp>
    </p:spTree>
    <p:extLst>
      <p:ext uri="{BB962C8B-B14F-4D97-AF65-F5344CB8AC3E}">
        <p14:creationId xmlns:p14="http://schemas.microsoft.com/office/powerpoint/2010/main" val="321934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EC5414-2902-483D-A21D-6622FC9871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3AFED-1B72-4E43-B5AA-63CB2C0E3A88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ED856F-41C0-4C30-9313-C058F264573D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DCE680-0A24-4319-A800-20D47D8B3F6F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Démonstration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A428D5-40DB-4346-940F-C2F8BEE6E5EF}"/>
              </a:ext>
            </a:extLst>
          </p:cNvPr>
          <p:cNvSpPr txBox="1"/>
          <p:nvPr/>
        </p:nvSpPr>
        <p:spPr>
          <a:xfrm>
            <a:off x="762000" y="1651000"/>
            <a:ext cx="1066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1. python -m Application.main`n2. uvicorn Application.api:app --reload --port 8000 (API FastAPI)`n3. streamlit run streamlit_app.py`n4. URLs: /docs et interface Streamlit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2D276F-040B-42F2-9167-4E18D21BB851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9/10</a:t>
            </a:r>
          </a:p>
        </p:txBody>
      </p:sp>
    </p:spTree>
    <p:extLst>
      <p:ext uri="{BB962C8B-B14F-4D97-AF65-F5344CB8AC3E}">
        <p14:creationId xmlns:p14="http://schemas.microsoft.com/office/powerpoint/2010/main" val="9636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0843BF-11F1-4047-8416-153C0B0712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9D5DD-565C-4793-BFA5-8483C9D11BE9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C9C9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4FF97-4FB7-4C30-B15B-2D682920EE58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886237-922A-4848-970A-DE23F1461931}"/>
              </a:ext>
            </a:extLst>
          </p:cNvPr>
          <p:cNvSpPr txBox="1"/>
          <p:nvPr/>
        </p:nvSpPr>
        <p:spPr>
          <a:xfrm>
            <a:off x="635000" y="660400"/>
            <a:ext cx="1092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400" b="1">
                <a:solidFill>
                  <a:srgbClr val="323232"/>
                </a:solidFill>
                <a:latin typeface="Calibri" panose="020F0502020204030204" pitchFamily="34" charset="0"/>
              </a:rPr>
              <a:t>Limites et Roadmap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8E89353-EAA7-417A-B124-5A1685D618FE}"/>
              </a:ext>
            </a:extLst>
          </p:cNvPr>
          <p:cNvSpPr txBox="1"/>
          <p:nvPr/>
        </p:nvSpPr>
        <p:spPr>
          <a:xfrm>
            <a:off x="762000" y="1651000"/>
            <a:ext cx="1066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333333"/>
                </a:solidFill>
                <a:latin typeface="Calibri" panose="020F0502020204030204" pitchFamily="34" charset="0"/>
              </a:rPr>
              <a:t>Limites:`n- Qualité dépendante des sources`n- Certaines sources parfois vides`n`nRoadmap:`n- CI/CD + tests`n- Docker Compose`n- Observabilité (logs/métriques)`n- Exports BI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F76154-7D80-4086-BBF9-98BB6A6FA7F8}"/>
              </a:ext>
            </a:extLst>
          </p:cNvPr>
          <p:cNvSpPr txBox="1"/>
          <p:nvPr/>
        </p:nvSpPr>
        <p:spPr>
          <a:xfrm>
            <a:off x="508000" y="64262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100">
                <a:solidFill>
                  <a:srgbClr val="808080"/>
                </a:solidFill>
                <a:latin typeface="Calibri" panose="020F0502020204030204" pitchFamily="34" charset="0"/>
              </a:rPr>
              <a:t>Master 1 - Projet Big Data Immobilier | Slide 10/10</a:t>
            </a:r>
          </a:p>
        </p:txBody>
      </p:sp>
    </p:spTree>
    <p:extLst>
      <p:ext uri="{BB962C8B-B14F-4D97-AF65-F5344CB8AC3E}">
        <p14:creationId xmlns:p14="http://schemas.microsoft.com/office/powerpoint/2010/main" val="12251044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Grand écran</PresentationFormat>
  <Paragraphs>30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inggbaa</dc:creator>
  <cp:lastModifiedBy>inggbaa</cp:lastModifiedBy>
  <cp:revision>1</cp:revision>
  <dcterms:created xsi:type="dcterms:W3CDTF">2026-03-02T02:48:28Z</dcterms:created>
  <dcterms:modified xsi:type="dcterms:W3CDTF">2026-03-02T02:48:28Z</dcterms:modified>
</cp:coreProperties>
</file>